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 objetivo: mostrar como um pipeline reprodutível em R identifica o NQO1 downregulado na cardiomiopatia dilatada e o que isso significa para a cardiotoxicidade da doxorrubicina. Reforçar que todos os números vêm de scripts versionados.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blocos: contexto clínico, dados e métodos, resultados gene a gene, resultados de sistema (vias e redes) e robustez/conclusões. Cada bloco corresponde a um ou dois scripts da pasta tutoriais/.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Dizer o que a turma deve sair sabendo. Estes objetivos guiam o fechamento: cada um e retomado nas conclusoes.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Termos que aparecem nos slides seguintes. Vale voltar a este slide sempre que algum termo tecnico aparecer.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antraciclina é um dos quimioterápicos mais usados e um dos mais cardiotóxicos. A toxicidade é dose-dependente e pode aparecer anos depois. Explicar que o coração tem pouca capacidade de regeneração e alta demanda energética.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mecanismos que se somam. O ponto comum é a geração de espécies reativas e a disfunção mitocondrial. O NQO1 entra justamente na defesa antioxidante.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figura tem cinco painéis. A e B: ciclo redox da quinona com NOX2/NOX4, xantina oxidase e eNOS/iNOS gera superóxido, peroxinitrito e radical hidroxila. C: no retículo sarcoplasmático, ROS ativam CaMKII. D: inibição de topoisomerase II-beta leva a quebras de mtDNA e queda de ATP. E: bloqueio do fluxo autofágico pela falha de acidificação lisossomal.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Painel A: apoptose, com PARP e p53 acionando caspases. Painel B: piroptose via TLR4/NLRP3 e caspase-1, com GSDMD/GSDME formando poros. Painel C: ferroptose, dependente de Fe2+ e peroxidação lipídica, contida por GPX4/system Xc- e GSH.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Tabela com as 25 formas de morte celular regulada e a definição operacional de cada uma. Útil para mostrar que apoptose, necroptose, piroptose, ferroptose, cobreptose, oxeiptose e outras são categorias distintas, com mecanismos próprios.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Nem todas as 25 formas têm evidência na cardiotoxicidade. Estas são as mais estudadas. A tabela é editável; a figura com as 25 serve de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modelo integrado calcula escores das 25 vias de morte por amostra e usa isso para buscar biomarcadores e alvos terapêuticos em pan-cancer. A mensagem central: as vias se comunicam e bloquear uma pode desviar a célula para outra.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Amarrar as figuras dos artigos ao achado do estudo: o NQO1 reduz a quinona em dois elétrons, evitando a semiquinona que alimenta o ciclo redox. Com NQO1 baixo na DCM, a mesma dose de DOX encontra menos defesa.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Dexrazoxano e quelante de ferro: age exatamente no braco da ferroptose mostrado no painel C da Fig. 2 de Kong. Monitorizacao combina funcao ventricular, strain e biomarcadores. O risco cresce com a dose cumulativa. O NQO1 entra como possivel marcador de susceptibilidade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fundamentacao clinica. Cada linha vem do artigo de Gajjar et al. (2026), revisao de estratificacao de risco e vigilancia em cardio-oncologia: GLS com queda relativa &gt;15 por cento, troponina elevada ~4x risco, limiares de dose do NCI/COG e ASCO, e dexrazoxano como quelante de ferro cardioprotetor.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NQO1 é NAD(P)H quinona oxidorredutase 1. Faz redução de dois elétrons, evitando a formação de semiquinonas reativas. É induzida por Nrf2 via elemento de resposta antioxidante. Na prática: é uma enzima citoprotetora.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 principal e três perguntas secundárias. O desenho é observacional, com dados públicos de transcriptoma de ventrículo esquerdo. Deixar claro que não há intervenção nem seguimento clínico.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RNA-seq de ventrículo esquerdo humano. Usamos só DCM e controle no teste estatístico; o grupo ICM entra apenas como contexto no UMAP. Idade e sexo entram como covariáveis.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pasta tutoriais/ tem um script por etapa. O script 00 prepara os dados uma única vez e guarda cache; os demais reaproveitam. A ordem dos arquivos é a ordem de execução.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limma ajusta um modelo linear por gene com efeitos de grupo, sexo e idade. A moderação empírica da variância estabiliza as estimativas com poucas amostras. O ajuste de múltiplas comparações é Benjamini-Hochberg.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Fluxo do limma: matriz de expressao, modelo linear, moderacao empirica da variancia e tabela de resultados. E o mesmo caminho que o script 02_volcano.R executa.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UMAP não supervisionado, colorido depois pelos rótulos. CTRL separa; DCM e ICM se sobrepõem, o que é esperado: são doenças diferentes com fenótipo final parecido. Eixos do UMAP não têm interpretação biológica direta.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Médias e desvios das coordenadas por grupo. O CTRL tem menor dispersão e centro distante.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Quase metade dos genes testados tem padj &lt; 0,05, o que mostra que a DCM é um estado transcriptômico muito alterado — e por isso o efeito precisa ser lido junto com o tamanho de efeito.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Eixo x: log2FC, tamanho do efeito. Eixo y: -log10(padj), forca da evidencia. Cada ponto e um gene. Os cantos superiores sao os mais interessantes. NQO1 cai no canto inferior esquerdo, com evidencia muito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Figura gerada pelo script 02_volcano.R. O NQO1 aparece destacado no canto inferior esquerdo: log2FC -1,66 e padj 6,5e-13.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 central do estudo. log2FC -1,66 corresponde a cerca de um terço da expressão do controle. padj 6,5e-13 é muito robusto.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Heatmap dos principais genes diferencialmente expressos. Amostras nas colunas, genes nas linhas. Ajuda a ver se o padrao e consistente entre amostras e nao um efeito de uma ou duas amostras extremas.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Distinção importante: estar no dataset não é o mesmo que pertencer à via. A interseção é o que o limma, a rede e o GSEA efetivamente usam.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Rede com 105 proteínas e 837 interações de alta confiança. Tamanho do nó = grau; cor = log2FC. Hubs concentram a comunicação da 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AKT1 e MTOR lideram. São nós de sinalização de crescimento e metabolismo, coerentes com o papel energético da AMPK no coração.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Achado importante: nas assinaturas de expressao de linhagens celulares, a doxorrubicina reduz o NQO1 (FC medio negativo, q muito baixo, 15 testes em duas bases). Isso conversa com o achado in vivo do GSE116250.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Ranking por evidencia estatistica. Farmacos que sobem o NQO1 sao candidatos a induzir a defesa antioxidante; os que descem ajudam a explicar o dano.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Grafico de lollipop com os compostos mais associados ao NQO1 no PubChem. Serve como ponto de partida para busca de farmacos indutores.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Curvas de dose-resposta dos farmacos que alteram o NQO1. Mostra que o efeito depende da concentracao — nem sempre mais e melhor.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 negativo e p 0,31: não há enriquecimento significativo do conjunto neste recorte. Resultado negativo também é resultado: a via não se comporta como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GSVA transforma a via em um escore por amostra. Aqui a diferença é significativa por Wilcoxon, com escores maiores no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SVA estima fatores latentes sem usar os rótulos. Com dois fatores no modelo, o efeito do NQO1 praticamente não muda. Isso sustenta o achado contra confundidores técnicos.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Bulk de tecido é mistura de tipos celulares. xCell estima escores relativos. Serve para checar se a diferença de NQO1 é só composição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Miocitos e endotelio linfatico sobem; macrofagos M1 e M2 caem. Ler como escores relativos, com cautela, porque a composição influencia todos os escores.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Fechar a narrativa: NQO1 baixo, via AMPK sem enriquecimento global mas com heterogeneidade, hubs de sinalização preservados e composição celular alterada.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 honesto: dados observacionais, sem seguimento, sem dose de DOX, e bulk sem resolução de célula única.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mensagens finais: NQO1 é biomarcador candidato, a via AMPK é heterogênea e o pipeline é reprodutível e reutilizável.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 pasta tutoriais e o comando único. Cada script tem comentarios didaticos e imprime FIM DO SCRIPT ao terminar.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5 minutos em duplas e depois abrir para a turma. Sao perguntas que ligam o resultado a pratica e a limitacao do estudo.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Citar as fontes dos dados e dos métodos. Ver README.md para a lista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3B5C"/>
                </a:solidFill>
                <a:latin typeface="Arial"/>
              </a:rPr>
              <a:t>NQO1, doxorrubicina e cardiotoxicidade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1153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46B63"/>
                </a:solidFill>
                <a:latin typeface="Arial"/>
              </a:rPr>
              <a:t>na cardiomiopatia dilatada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88920"/>
            <a:ext cx="2926080" cy="38100"/>
          </a:xfrm>
          <a:prstGeom prst="rect">
            <a:avLst/>
          </a:prstGeom>
          <a:solidFill>
            <a:srgbClr val="D95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1153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595959"/>
                </a:solidFill>
                <a:latin typeface="Arial"/>
              </a:rPr>
              <a:t>Análise transcriptômica reprodutível em R / Bioconductor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B5C"/>
                </a:solidFill>
                <a:latin typeface="Arial"/>
              </a:rPr>
              <a:t>L. P. Souza  ·  R. P. Santos  ·  P. A. Borges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95959"/>
                </a:solidFill>
                <a:latin typeface="Arial"/>
              </a:rPr>
              <a:t>Dados públicos: GEO GSE116250  |  Via AMPK: KEGG hsa04152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Roteiro da aula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88136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5760720"/>
                <a:gridCol w="2103120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Bloco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Pergunta que responde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Script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1. Contexto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Por que NQO1 importa na cardiotoxicidade?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2. Dados e métodos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De onde vêm os dados e como são analisados?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3. Exploração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As amostras se separam por grupo?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01_UMAP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4. Expressão diferencial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Quais genes mudam entre DCM e controle?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02_volcano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5. Do gene ao sistema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A via AMPK, a rede PPI e os escores por amostra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03 a 06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6. Robustez e conclusão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O achado resiste a confundidores?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2/51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Objetivos de aprendizagem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6B63"/>
                </a:solidFill>
                <a:latin typeface="Arial"/>
              </a:rPr>
              <a:t>Ao final da aula, você deve ser capaz 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6984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F3B5C"/>
                </a:solidFill>
                <a:latin typeface="Arial"/>
              </a:rPr>
              <a:t>•  Explicar a função do NQO1 na detoxificação de quinonas e no estresse oxidativo.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F3B5C"/>
                </a:solidFill>
                <a:latin typeface="Arial"/>
              </a:rPr>
              <a:t>•  Descrever os mecanismos pelos quais a doxorrubicina lesiona o cardiomiócito.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F3B5C"/>
                </a:solidFill>
                <a:latin typeface="Arial"/>
              </a:rPr>
              <a:t>•  Reconhecer as principais formas de morte celular envolvidas na cardiotoxicidade.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F3B5C"/>
                </a:solidFill>
                <a:latin typeface="Arial"/>
              </a:rPr>
              <a:t>•  Interpretar um volcano plot e os escores de via (GSEA e GSVA).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F3B5C"/>
                </a:solidFill>
                <a:latin typeface="Arial"/>
              </a:rPr>
              <a:t>•  Relacionar o achado transcriptômico aos candidatos farmacológicos.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3/51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Glossário rápido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05256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Termo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 que significa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log2FC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log2 da razão de expressão entre DCM e controle; negativo = menor na DCM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padj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p-valor ajustado para múltiplas comparações (Benjamini-Hochberg)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RPKM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medida de expressão normalizada pelo tamanho do gene e pela profundidade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NES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normalized enrichment score: escore do GSEA, já normalizado por tamanho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GSVA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transforma a via em um escore por amostra, como um 'supergene'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RCD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regulated cell death: morte celular regulada, com via molecular própria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4/51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8288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146B63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271455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Contexto clínico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2714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8D6"/>
                </a:solidFill>
                <a:latin typeface="Arial"/>
              </a:rPr>
              <a:t>Doxorrubicina, estresse oxidativo e o papel do NQO1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Doxorrubicina: eficácia e preço cardíaco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40080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Antraciclina essencial no tratamento de leucemias, linfomas e tumores sólidos.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Cardiotoxicidade dose-dependente: disfunção ventricular, insuficiência cardíaca e arritmias.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Pode surgir durante o tratamento ou anos depois (toxicidade tardia).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O miocárdio tem alta demanda energética e baixa capacidade regenerativa.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Isso torna o coração especialmente sensível a dano mitocondrial e estresse oxidativo.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6/51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Como a doxorrubicina lesiona o cardiomiócito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589520"/>
              </a:tblGrid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Mecanismo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 que acontece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Estresse oxidativo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Redução da quinona gera radicais livres e peroxidação lipídica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Topoisomerase II-beta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Inibição no cardiomiócito altera a transcrição mitocondrial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Disfunção mitocondrial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Perda de potencial de membrana, queda de ATP e liberação de citocromo c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Ferroptose e apoptose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Sobrecarga de ferro, lipoperoxidação e morte celular programada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12064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6B63"/>
                </a:solidFill>
                <a:latin typeface="Arial"/>
              </a:rPr>
              <a:t>Consequência comum: menos defesa antioxidante e mais vulnerabilidade ao dano.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7/51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O ciclo redox da doxorrubicina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Kong et al., 2022 — Fig. 1</a:t>
            </a:r>
          </a:p>
        </p:txBody>
      </p:sp>
      <p:pic>
        <p:nvPicPr>
          <p:cNvPr id="5" name="Picture 4" descr="Kong et al., 2022, Int J Biol Sc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12" y="1325880"/>
            <a:ext cx="4423095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53912"/>
            <a:ext cx="4480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Kong et al., 2022, Int J Biol Sci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1463040"/>
            <a:ext cx="603504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A · A quinona da DOX entra em ciclo redox com NOX2, NOX4 e xantina oxidase.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A · Surge a semiquinona, que reduz O2 e produz superóxido (O2•-).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B · A SOD converte O2•- em H2O2; com Fe2+ (Fenton) vem o radical hidroxila.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B · Óxido nítrico + superóxido = peroxinitrito (ONOO-).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C/D · ROS ativam CaMKII no retículo; a inibição de topo-IIβ quebra o mtDNA.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E · A DOX bloqueia a acidificação lisossomal e trava o fluxo autofágico.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8/51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Três mortes clássicas induzidas pela DOX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Apoptose, piroptose e ferroptose — Kong et al., 2022, Fig. 2</a:t>
            </a:r>
          </a:p>
        </p:txBody>
      </p:sp>
      <p:pic>
        <p:nvPicPr>
          <p:cNvPr id="5" name="Picture 4" descr="Kong_2022_Fig2_morte_celu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124" y="1325880"/>
            <a:ext cx="6471271" cy="35204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983480"/>
            <a:ext cx="1088136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A · Apoptose: quebras de DNA ativam PARP e p53, que acionam caspases.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B · Piroptose: TLR4 leva ao inflamassoma NLRP3 e à caspase-1; GSDMD abre poros na membrana.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C · Ferroptose: Fe2+ e peroxidação lipídica; GPX4, system Xc- e GSH tentam conter.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9/51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As 25 formas de morte celular regulada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Rodrigues De Souza et al., 2025 — Fig. 1</a:t>
            </a:r>
          </a:p>
        </p:txBody>
      </p:sp>
      <p:pic>
        <p:nvPicPr>
          <p:cNvPr id="5" name="Picture 4" descr="RCD = regulated cell death: forma de morte e definição operacio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971" y="1261872"/>
            <a:ext cx="7739577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52744"/>
            <a:ext cx="10881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RCD = regulated cell death: forma de morte e definição operacional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10/51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As mortes que pesam na cardiotoxicidade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Seleção das 25 formas de RCD — Rodrigues De Souza et al., 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881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6868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Forma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Definição operacional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Apoptose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Encolhimento celular, condensação da cromatina e fragmentação do DNA, sem inflamação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Necroptose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Necrose programada via RIPK1/RIPK3/MLKL, com ruptura de membrana e inflamação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Piroptose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Caspase-1 e gasderminas formam poros na membrana; altamente inflamatória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Ferroptose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Depende de ferro e peroxidação lipídica; não é apoptótica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Autofagia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Autodigestão por lisossomos; a DOX trava o fluxo autofágico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Cobreptose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Morte por acúmulo de cobre e estresse mitocondrial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Oxeiptose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Dirigida por estresse oxidativo, com KEAP1 e NRF2 — liga direta com o NQO1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Mitoptose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Eliminação seletiva de mitocôndrias danificadas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11/51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Multioptose: as vias conversam entre si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Rodrigues De Souza et al., 2025 — Fig. 3</a:t>
            </a:r>
          </a:p>
        </p:txBody>
      </p:sp>
      <p:pic>
        <p:nvPicPr>
          <p:cNvPr id="5" name="Picture 4" descr="Fluxo do modelo integrado de multiopto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79055"/>
            <a:ext cx="6675120" cy="37570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016752"/>
            <a:ext cx="66751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Fluxo do modelo integrado de multioptose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737360"/>
            <a:ext cx="429768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O modelo soma escores das 25 vias de morte, amostra por amostra.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Integra camadas de multi-ômica para achar biomarcadores e alvos.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As vias se comunicam: bloquear uma pode desviar a célula para outra.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12/51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Onde o NQO1 entra nessa história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A enzima corta o ciclo redox na origem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80560"/>
                <a:gridCol w="4114800"/>
              </a:tblGrid>
              <a:tr h="60350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Etapa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 DOX e pouco NQO1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 NQO1 ativo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Ciclo redox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Semiquinona recicla e gera superóxido sem parar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Redução em dois elétrons: sem semiquinona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Radicais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H2O2, •OH e ONOO- atacam proteína, lipídio e DNA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Menos ROS e menos peroxidação lipídica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Ferroptose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Fe2+ + peroxidação lipídica levam à morte por ferro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Menos peroxidação: menos sinal ferroptótico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Resultado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Morte do cardiomiócito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Mais resistência ao dano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5156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6B63"/>
                </a:solidFill>
                <a:latin typeface="Arial"/>
              </a:rPr>
              <a:t>Na DCM o NQO1 cai: a defesa antioxidante diminui justamente onde a DOX 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13/51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Cardioproteção e monitorização na prática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O que a oncologia e a enfermagem fazem com esse risco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1064240" cy="405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67665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Frente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 que se faz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Cardioproteção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Dexrazoxano: quelante de ferro, único cardioprotetor aprovado — atua na rota da ferroptose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Função ventricular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Ecocardiograma com FEVE e strain global longitudinal antes e durante o tratamento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Biomarcadores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Troponina e BNP podem subir antes da queda de função — sinal precoce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Dose cumulativa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O risco cresce com a dose total; toxicidade aguda e tardia têm janelas diferentes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NQO1 na prática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Candidato a marcador de susceptibilidade: menos enzima, menos defesa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14/51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O que a evidência recomenda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Gajjar et al., 2026 — Biomedicines 14:1771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Frente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 que a evidência mostra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Rastreio de disfunção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FEVE + GLS antes de iniciar terapia cardiotóxica (Classe I da ESC); queda relativa de GLS &gt; 15% prediz queda posterior da FEVE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Troponina e BNP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Elevação de troponina durante a quimioterapia confere cerca de 4x mais risco de cardiotoxicidade; BNP/NT-proBNP se associam a risco de insuficiência cardíaca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Dose cumulativa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NCI/COG: até 250 mg/m² de doxorrubicina equivalente = risco moderado; acima de 250 mg/m² = alto risco de IC. ASCO: &gt; 100 mg/m² com &gt; 15 Gy = alto risco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Cardioproteção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Dexrazoxano, quelante de ferro, tem efeito cardioprotetor; pode agir também por HIF e por inibir a interação antraciclina–Top2β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06440"/>
            <a:ext cx="10515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Gajjar A, et al. Biomedicines. 2026;14(8):1771. doi:10.3390/biomedicines14081771 (PMC13509971)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15/51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NQO1: a enzima que detoxifica quinonas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40080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NAD(P)H quinona oxidorredutase 1: reduz quinonas por transferência de dois elétrons.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Evita a formação de semiquinonas reativas e de espécies reativas de oxigênio.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Induzida por Nrf2 pelo elemento de resposta antioxidante (ARE).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Citoprotetora: protege o cardiomiócito do dano oxidativo induzido pela DOX.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Hipótese do estudo: na cardiomiopatia dilatada, o NQO1 está downregulado.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16/51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Pergunta e desenho do estudo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46B63"/>
                </a:solidFill>
                <a:latin typeface="Arial"/>
              </a:rPr>
              <a:t>O NQO1 está diferencialmente expresso na cardiomiopatia dilatada e a via AMPK está perturbada nesse contexto?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78892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76072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Objetivo específico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Abordagem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Quantificar o NQO1 entre DCM e controle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limma, ajustado por sexo e idade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Testar a via AMPK como conjunto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GSEA e GSVA (KEGG hsa04152)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Ver o sistema, não só o gene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Rede PPI no STRING (score &gt;= 700)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Checar confundidores técnicos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SVA para fatores latentes e xCell para composição celular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17/51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8288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146B63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271455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Dados e métodos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2714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8D6"/>
                </a:solidFill>
                <a:latin typeface="Arial"/>
              </a:rPr>
              <a:t>64 amostras de ventrículo esquerdo, pipeline reprodutível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Dataset GSE116250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2926080"/>
                <a:gridCol w="448056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Grupo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Idade média (anos)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Papel na análise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CTRL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49,1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Controle usado no teste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DCM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48,8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Caso usado no teste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ICM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56,5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Só contexto no UMAP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50,4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48056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6B63"/>
                </a:solidFill>
                <a:latin typeface="Arial"/>
              </a:rPr>
              <a:t>Expressão em RPKM · 18.526 genes após filtro de expressão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19/51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Pipeline: sete etapas, sete scripts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133856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394960"/>
                <a:gridCol w="356616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Script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 que faz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Saída principal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Configuração, download do GEO e da via KEGG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cache em data/processed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01_UMAP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Exploração não supervisionada das amostras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UMAP_amostras.png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02_volcano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limma DCM vs CTRL + volcano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expressao_diferencial_completa.csv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03_gene_sets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Genes do dataset x genes da via AMPK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Venn_dataset_AMPK.png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04_rede_PPI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Rede de interações no STRING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rede_ppi_ampk.png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05_extras_GSEA_GSVA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GSEA e GSVA da via AMPK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GSEA e GSVA (png/csv)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06_batch_deconvolution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SVA e xCell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SVA_comparacao.csv, xCell_teste.csv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48640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6B63"/>
                </a:solidFill>
                <a:latin typeface="Arial"/>
              </a:rPr>
              <a:t>Tudo reprodutível: Rscript executar_tutoriais.R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20/51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Modelo estatístico (limma)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58368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F3B5C"/>
                </a:solidFill>
                <a:latin typeface="Arial"/>
              </a:rPr>
              <a:t>•  Modelo linear por gene: grupo (DCM vs CTRL) + sexo + idade.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F3B5C"/>
                </a:solidFill>
                <a:latin typeface="Arial"/>
              </a:rPr>
              <a:t>•  Moderação empírica da variância: estabiliza o teste com amostras pequenas.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F3B5C"/>
                </a:solidFill>
                <a:latin typeface="Arial"/>
              </a:rPr>
              <a:t>•  log2FC negativo indica menor expressão na DCM.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F3B5C"/>
                </a:solidFill>
                <a:latin typeface="Arial"/>
              </a:rPr>
              <a:t>•  Controle de falsos positivos por Benjamini-Hochberg (padj).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F3B5C"/>
                </a:solidFill>
                <a:latin typeface="Arial"/>
              </a:rPr>
              <a:t>•  Corte de significância: padj &lt; 0,05; efeito relevante: |log2FC| &gt;= 0,585.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21/51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Por dentro do limma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Ritchie et al., 2015 — Fig. 2</a:t>
            </a:r>
          </a:p>
        </p:txBody>
      </p:sp>
      <p:pic>
        <p:nvPicPr>
          <p:cNvPr id="5" name="Picture 4" descr="Ritchie et al., 2015, Nucleic Acids Rese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138" y="1371600"/>
            <a:ext cx="2665244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6309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Ritchie et al., 2015, Nucleic Acids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737360"/>
            <a:ext cx="43891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lmFit ajusta um modelo linear por gene.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eBayes modera a variância entre genes.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topTable monta a tabela com log2FC, p e padj.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22/51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8288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146B63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271455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Resultados: exploração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2714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8D6"/>
                </a:solidFill>
                <a:latin typeface="Arial"/>
              </a:rPr>
              <a:t>As amostras se organizam por grupo antes de qualquer teste?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UMAP: os controles formam um grupo à parte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jeção UMAP das amostras (n = 6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449" y="1371600"/>
            <a:ext cx="5964701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45352"/>
            <a:ext cx="6949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Projeção UMAP das amostras (n = 68)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24/51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UMAP em números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9875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2377440"/>
                <a:gridCol w="23774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Grupo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UMAP1 (média)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UMAP2 (média)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DP UMAP1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CTRL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-3,46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-0,16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0,46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DCM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0,78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-0,06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1,41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ICM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1,50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0,35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0,90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O resultado depende de n_neighbors, min_dist e do número de genes usados.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25/51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Expressão diferencial: o panorama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241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420624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Genes testados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18.526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DEGs com padj &lt; 0,05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7995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DEGs com padj &lt; 0,05 e |log2FC| &gt;= 0,585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1951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Genes da via AMPK testados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Genes da via AMPK com padj &lt; 0,05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55 (25 up, 30 down)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9496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A DCM é um estado transcriptômico muito alterado: o tamanho de efeito importa.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26/51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Como ler um volcano plot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88136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772400"/>
              </a:tblGrid>
              <a:tr h="62179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O que indica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Eixo x (log2FC)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Tamanho do efeito: quanto o gene muda; negativo = menor na DCM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Eixo y (-log10 padj)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Força da evidência estatística; mais alto = mais significativo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Cada ponto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Um gene testado (18.526 no total)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Cantos superiores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Genes que mudam muito e com evidência forte: os candidatos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NQO1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Canto inferior esquerdo: muito reduzido e com padj muito baixo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27/51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Volcano: o NQO1 entre os mais robustos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limma DCM vs CTRL, ajustado por sexo e idade</a:t>
            </a:r>
          </a:p>
        </p:txBody>
      </p:sp>
      <p:pic>
        <p:nvPicPr>
          <p:cNvPr id="5" name="Picture 4" descr="Volcano do limma (DCM vs CTRL) · NQO1 destaca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325880"/>
            <a:ext cx="65836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08192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Volcano do limma (DCM vs CTRL) · NQO1 destacado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737360"/>
            <a:ext cx="283464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NQO1: log2FC -1,66 e padj 6,5e-13.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Fica na zona de maior evidência do lado negativo.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8.000 genes com padj &lt; 0,05: a DCM muda muito.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28/51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NQO1 está downregulado na DCM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11556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2377440"/>
                <a:gridCol w="1737360"/>
                <a:gridCol w="1737360"/>
                <a:gridCol w="201168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Gene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log2FC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Expressão média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p-valor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padj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Direção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NQO1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-1,66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4,23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1,4e-16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6,5e-13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down na DCM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2926080"/>
            <a:ext cx="10515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6B63"/>
                </a:solidFill>
                <a:latin typeface="Arial"/>
              </a:rPr>
              <a:t>-1,66 em log2 = aproximadamente um terço da expressão do controle.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60704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F3B5C"/>
                </a:solidFill>
                <a:latin typeface="Arial"/>
              </a:rPr>
              <a:t>•  Menos NQO1 significa menos detoxificação de quinonas no miocárdio.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F3B5C"/>
                </a:solidFill>
                <a:latin typeface="Arial"/>
              </a:rPr>
              <a:t>•  Um coração já doente fica mais vulnerável ao dano da doxorrubicina.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F3B5C"/>
                </a:solidFill>
                <a:latin typeface="Arial"/>
              </a:rPr>
              <a:t>•  Isso conecta o achado transcriptômico à hipótese clínica de susceptibilidade.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29/51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Top DEGs: o padrão por amostra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atmap dos principais DEGs (DCM vs CTR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1371600"/>
            <a:ext cx="5705856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53912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Heatmap dos principais DEGs (DCM vs CTRL)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83080"/>
            <a:ext cx="365760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Linhas = genes; colunas = amostras.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Cor = expressão relativa (z-score).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O padrão deve ser consistente entre amostras.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30/51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8288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146B63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271455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Do gene ao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2714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8D6"/>
                </a:solidFill>
                <a:latin typeface="Arial"/>
              </a:rPr>
              <a:t>Gene sets, via AMPK e rede de interações proteicas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Quais genes entraram na análise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set filtrado x via AMPK (KEGG hsa0415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10" y="1371600"/>
            <a:ext cx="589198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96712"/>
            <a:ext cx="6035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Dataset filtrado x via AMPK (KEGG hsa04152)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40880" y="1737360"/>
          <a:ext cx="4572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Conjunto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Dataset após filtro de expressão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18526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Via AMPK (KEGG hsa04152)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Interseção (dataset ∩ via AMPK)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Somente no dataset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18420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Somente na via AMPK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32/51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Rede PPI da via AMPK no STRING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de PPI (score &gt;= 700) · 105 nós e 837 arest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25880"/>
            <a:ext cx="621792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016752"/>
            <a:ext cx="7680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Rede PPI (score &gt;= 700) · 105 nós e 837 arestas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59" y="1828800"/>
            <a:ext cx="329184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Grafo: nós = proteínas, arestas = interações.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Score &gt;= 700 de 1.000 = alta confiança.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Hubs = proteínas mais conectadas.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33/51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Os hubs da rede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676656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377440"/>
              </a:tblGrid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Gene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Grau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log2FC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AKT1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0,09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MTOR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-0,16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PRKAA1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-0,32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PRKAA2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0,36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AKT2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-0,19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PRKAB2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-0,14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PRKAG2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-0,42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PRKAG1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-0,02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PRKAB1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0,65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AKT3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-0,21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920240"/>
            <a:ext cx="530352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Grau = número de conexões na rede. AKT1 e MTOR concentram a sinalização.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34/51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8288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146B63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271455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Farmacogenômica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2714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8D6"/>
                </a:solidFill>
                <a:latin typeface="Arial"/>
              </a:rPr>
              <a:t>Quais fármacos modulam o NQO1? (CMAP, LINCS L1000 e CREEDS)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A própria doxorrubicina derruba o NQO1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Arial"/>
              </a:rPr>
              <a:t>Evidência in vitro em bases de farmacogenômica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12064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Fármaco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Doxorubicin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FC médio do NQO1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-1,07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q-valor mínimo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2.2e-28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Direção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downregula o NQO1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Bases consultadas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CREEDS; LINCS L1000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Testes reunidos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0" y="1920240"/>
            <a:ext cx="283464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6B63"/>
                </a:solidFill>
                <a:latin typeface="Arial"/>
              </a:rPr>
              <a:t>A DOX reduz o NQO1 nas duas frentes: in vivo (GSE116250) e in vitro.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36/51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Fármacos que modulam o NQO1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4241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194560"/>
                <a:gridCol w="2377440"/>
                <a:gridCol w="182880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Fármaco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FC médio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q mínimo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NQO1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trichostatin A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0,68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0.0e+00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sobe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Doxorubicin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-1,07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2.2e-28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desce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manumycin-a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-0,01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3.6e-20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sobe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parthenolide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1,57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4.4e-19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sobe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panobinostat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-0,54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6.6e-18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desce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piperlongumine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-0,71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1.2e-17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3B5C"/>
                          </a:solidFill>
                          <a:latin typeface="Arial"/>
                        </a:rPr>
                        <a:t>desce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95959"/>
                </a:solidFill>
                <a:latin typeface="Arial"/>
              </a:rPr>
              <a:t>Fontes: CMAP, LINCS L1000 e CREEDS. Tabela completa em output/tables/nqo1/.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37/51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Compostos que modulam o NQO1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postos associados ao NQO1 (PubChem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694944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53912"/>
            <a:ext cx="6949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Compostos associados ao NQO1 (PubChem)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83080"/>
            <a:ext cx="402336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Compostos com mais associações descritas.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Candidatos a indutores da defesa antioxidante.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Hipótese a testar: induzir NQO1 antes da DOX.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38/51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Relação dose-resposta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rvas de dose-resposta dos fármacos que alteram o NQO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24" y="1371600"/>
            <a:ext cx="6433072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53912"/>
            <a:ext cx="6766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Curvas de dose-resposta dos fármacos que alteram o NQO1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783080"/>
            <a:ext cx="420624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O efeito depende da concentração.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Nem sempre mais dose significa mais efeito.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A janela terapêutica importa.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39/51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8288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146B63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271455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Vias e robustez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2714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8D6"/>
                </a:solidFill>
                <a:latin typeface="Arial"/>
              </a:rPr>
              <a:t>GSEA, GSVA, fatores latentes e composição celular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GSEA: a via AMPK não enriquece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28255" y="1645920"/>
          <a:ext cx="4023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Genes da via no ranking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NES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-1,06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p-valor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0,307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1691640"/>
            <a:ext cx="67665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6B63"/>
                </a:solidFill>
                <a:latin typeface="Arial"/>
              </a:rPr>
              <a:t>NES = -1,06 e p = 0,31: sem enriquecimento significativo.</a:t>
            </a:r>
          </a:p>
        </p:txBody>
      </p:sp>
      <p:pic>
        <p:nvPicPr>
          <p:cNvPr id="6" name="Picture 5" descr="Curva de enriquecimento da via AMP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2286000"/>
            <a:ext cx="524256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45352"/>
            <a:ext cx="10881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Curva de enriquecimento da via AMPK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10515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95959"/>
                </a:solidFill>
                <a:latin typeface="Arial"/>
              </a:rPr>
              <a:t>A via como bloco não se move — mas genes individuais, sim.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41/51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GSVA: escore da via por amostra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45375" y="1645920"/>
          <a:ext cx="48463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1188720"/>
                <a:gridCol w="14630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Grupo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Média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Mediana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CTRL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0,115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0,151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DCM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-0,058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3B5C"/>
                          </a:solidFill>
                          <a:latin typeface="Arial"/>
                        </a:rPr>
                        <a:t>-0,058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1691640"/>
            <a:ext cx="6583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6B63"/>
                </a:solidFill>
                <a:latin typeface="Arial"/>
              </a:rPr>
              <a:t>Wilcoxon p = 0,00029  ·  -log10(p) = 3,54</a:t>
            </a:r>
          </a:p>
        </p:txBody>
      </p:sp>
      <p:pic>
        <p:nvPicPr>
          <p:cNvPr id="6" name="Picture 5" descr="Escore GSVA da via AMPK por grup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2286000"/>
            <a:ext cx="48006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Escore GSVA da via AMPK por grupo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10515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95959"/>
                </a:solidFill>
                <a:latin typeface="Arial"/>
              </a:rPr>
              <a:t>O escore médio cai de 0,115 (CTRL) para -0,058 (DCM).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42/51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Robustez: correção de fatores latentes (SVA)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6766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Sem SVA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Com SVA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NQO1 log2FC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-1,66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-1,65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NQO1 padj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6,5e-13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7,4e-13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DEGs padj &lt; 0,05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7995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7984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Correlação de log2FC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1,000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0,997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SVA_logFC_antes_depo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600200"/>
            <a:ext cx="3566160" cy="29480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572000"/>
            <a:ext cx="69494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6B63"/>
                </a:solidFill>
                <a:latin typeface="Arial"/>
              </a:rPr>
              <a:t>O efeito do NQO1 sobrevive à correção: log2FC -1,66 -&gt; -1,65.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43/51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Deconvolução celular (xCell)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scores xCell por amost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72389"/>
            <a:ext cx="5669280" cy="38789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79592"/>
            <a:ext cx="5669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Escores xCell por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737360"/>
            <a:ext cx="539496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1F3B5C"/>
                </a:solidFill>
                <a:latin typeface="Arial"/>
              </a:rPr>
              <a:t>•  Bulk cardíaco = mistura de tipos celulares.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1F3B5C"/>
                </a:solidFill>
                <a:latin typeface="Arial"/>
              </a:rPr>
              <a:t>•  xCell estima escores relativos, não frações absolutas.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1F3B5C"/>
                </a:solidFill>
                <a:latin typeface="Arial"/>
              </a:rPr>
              <a:t>•  Ajuda a descartar que a diferença seja só composição.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44/51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xCell: tipos celulares que mudam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scores por tipo celular, DCM vs CTR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37" y="1371600"/>
            <a:ext cx="679268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53912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Arial"/>
              </a:rPr>
              <a:t>Escores por tipo celular, DCM vs CTRL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65760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Miocitos e endotelio linfatico aumentados.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Macrofagos M1 e M2 reduzidos.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1F3B5C"/>
                </a:solidFill>
                <a:latin typeface="Arial"/>
              </a:rPr>
              <a:t>•  Interpretar como escores relativos.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45/51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O que os resultados contam juntos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NQO1 está reduzido de forma robusta na DCM (log2FC -1,66; padj 6,5e-13).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A via AMPK não enriquece como bloco no GSEA, mas varia no escore por amostra (GSVA).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A rede PPI mantém hubs de sinalização (AKT1, MTOR, PRKAA1/2).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A composição celular muda, e o achado do NQO1 resiste à correção por SVA.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7899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95F02"/>
                </a:solidFill>
                <a:latin typeface="Arial"/>
              </a:rPr>
              <a:t>Implicação: menor defesa antioxidante pode amplificar a cardiotoxicidade da DOX.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46/51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Limitações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6984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Estudo observacional com dados públicos: não há seguimento clínico.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Não há informação de dose ou tempo de exposição à doxorrubicina.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Transcriptoma bulk: não resolve heterogeneidade célula a célula.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Validação experimental (qPCR, western blot, modelos celulares) ainda é necessária.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47/51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Conclusões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NQO1 downregulado na DCM é o achado central, robusto a ajuste e a fatores latentes.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A via AMPK não se comporta como bloco único: genes individuais e escores importam.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O pipeline em R/Bioconductor é reprodutível e pode ser reaplicado a outras coortes.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48/51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Reprodutibilidade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59436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Arquivo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Função</a:t>
                      </a:r>
                    </a:p>
                  </a:txBody>
                  <a:tcPr anchor="ctr" marL="54864" marR="54864">
                    <a:solidFill>
                      <a:srgbClr val="1F3B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executar_tutoriais.R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Roda a aula inteira na ordem correta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tutoriais/00 a 06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Um script por etapa, com comentários didáticos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output/tables e output/figures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Tabelas e figuras geradas</a:t>
                      </a:r>
                    </a:p>
                  </a:txBody>
                  <a:tcPr anchor="ctr" marL="54864" marR="54864"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data/processed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B5C"/>
                          </a:solidFill>
                          <a:latin typeface="Arial"/>
                        </a:rPr>
                        <a:t>Cache dos dados e do resultado do limma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6B63"/>
                </a:solidFill>
                <a:latin typeface="Arial"/>
              </a:rPr>
              <a:t>Rscript executar_tutoriais.R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95959"/>
                </a:solidFill>
                <a:latin typeface="Arial"/>
              </a:rPr>
              <a:t>Os números desta apresentação vêm das tabelas em output/tables.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49/51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Perguntas para discussão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Se o NQO1 cai na DCM, por que a cardiotoxicidade da DOX varia tanto entre pacientes?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Induzir o NQO1 antes do tratamento seria cardioproteção — quais seriam os riscos?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O dexrazoxano age na ferroptose. Isso ajuda a explicar por que ele protege o coração?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>
                <a:solidFill>
                  <a:srgbClr val="1F3B5C"/>
                </a:solidFill>
                <a:latin typeface="Arial"/>
              </a:rPr>
              <a:t>•  Que evidência faltaria para propor o NQO1 como biomarcador na prática clínica?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9496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95959"/>
                </a:solidFill>
                <a:latin typeface="Arial"/>
              </a:rPr>
              <a:t>5 minutos em duplas e depois discussão aberta.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50/51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B5C"/>
                </a:solidFill>
                <a:latin typeface="Arial"/>
              </a:rPr>
              <a:t>Referências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737360" cy="50800"/>
          </a:xfrm>
          <a:prstGeom prst="rect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78992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GEO: GSE116250 (transcriptoma de ventrículo esquerdo humano).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Kong et al. (2022) Underlying the mechanisms of doxorubicin-induced acute cardiotoxicity. Int J Biol Sci.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Gajjar et al. (2026) Cardiovascular risk stratification and surveillance in cardio-oncology. Biomedicines 14:1771.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Rodrigues De Souza et al. (2025) Integrated multi-optosis model for pan-cancer discovery.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Ritchie et al. (2015) limma. Nucleic Acids Research.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Szklarczyk et al. (2021) STRING. Nucleic Acids Research.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Hänzelmann et al. (2013) GSVA. BMC Bioinformatics; Korotkevich et al. (2021) fgsea. bioRxiv.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1F3B5C"/>
                </a:solidFill>
                <a:latin typeface="Arial"/>
              </a:rPr>
              <a:t>•  Leek et al. (2012) sva. Bioinformatics; Aran et al. (2017) xCell. Genome Biology.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06440"/>
            <a:ext cx="10515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95959"/>
                </a:solidFill>
                <a:latin typeface="Arial"/>
              </a:rPr>
              <a:t>Textos completos em tutoriais/artigos/. Lista detalhada em README.md.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NQO1 e cardiotoxicidade por doxorrubicina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Arial"/>
              </a:rPr>
              <a:t>51/51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