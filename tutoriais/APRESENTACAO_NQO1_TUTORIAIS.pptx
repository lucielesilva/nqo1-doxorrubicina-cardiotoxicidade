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o objetivo: mostrar como um pipeline reprodutível em R identifica o NQO1 downregulado na cardiomiopatia dilatada e o que isso significa para a cardiotoxicidade da doxorrubicina. Reforçar que todos os números vêm de scripts versionados.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blocos: contexto clínico, dados e métodos, resultados gene a gene, resultados de sistema (vias e redes) e robustez/conclusões. Cada bloco corresponde a um ou dois scripts da pasta tutoriais/.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antraciclina é um dos quimioterápicos mais usados e um dos mais cardiotóxicos. A toxicidade é dose-dependente e pode aparecer anos depois. Explicar que o coração tem pouca capacidade de regeneração e alta demanda energética.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mecanismos que se somam. O ponto comum é a geração de espécies reativas e a disfunção mitocondrial. O NQO1 entra justamente na defesa antioxidante.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NQO1 é NAD(P)H quinona oxidorredutase 1. Faz redução de dois elétrons, evitando a formação de semiquinonas reativas. É induzida por Nrf2 via elemento de resposta antioxidante. Na prática: é uma enzima citoprotetora.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principal e três perguntas secundárias. O desenho é observacional, com dados públicos de transcriptoma de ventrículo esquerdo. Deixar claro que não há intervenção nem seguimento clínico.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RNA-seq de ventrículo esquerdo humano. Usamos só DCM e controle no teste estatístico; o grupo ICM entra apenas como contexto no UMAP. Idade e sexo entram como covariáveis.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pasta tutoriais/ tem um script por etapa. O script 00 prepara os dados uma única vez e guarda cache; os demais reaproveitam. A ordem dos arquivos é a ordem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limma ajusta um modelo linear por gene com efeitos de grupo, sexo e idade. A moderação empírica da variância estabiliza as estimativas com poucas amostras. O ajuste de múltiplas comparações é Benjamini-Hochberg.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 não supervisionado, colorido depois pelos rótulos. CTRL separa; DCM e ICM se sobrepõem, o que é esperado: são doenças diferentes com fenótipo final parecido. Eixos do UMAP não têm interpretação biológica direta.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e desvios das coordenadas por grupo. O CTRL tem menor dispersão e centro distante.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Quase metade dos genes testados tem padj &lt; 0,05, o que mostra que a DCM é um estado transcriptômico muito alterado — e por isso o efeito precisa ser lido junto com o tamanho de 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central do estudo. log2FC -1,66 corresponde a cerca de um terço da expressão do controle. padj 6,5e-13 é muito robusto.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Distinção importante: estar no dataset não é o mesmo que pertencer à via. A interseção é o que o limma, a rede e o GSEA efetivamente usam.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Rede com 105 proteínas e 837 interações de alta confiança. Tamanho do nó = grau; cor = log2FC. Hubs concentram a comunicação da 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AKT1 e MTOR lideram. São nós de sinalização de crescimento e metabolismo, coerentes com o papel energético da AMPK no coração.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 negativo e p 0,31: não há enriquecimento significativo do conjunto neste recorte. Resultado negativo também é resultado: a via não se comporta como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GSVA transforma a via em um escore por amostra. Aqui a diferença é significativa por Wilcoxon, com escores maiores no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SVA estima fatores latentes sem usar os rótulos. Com dois fatores no modelo, o efeito do NQO1 praticamente não muda. Isso sustenta o achado contra confundidores técnicos.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Bulk de tecido é mistura de tipos celulares. xCell estima escores relativos. Serve para checar se a diferença de NQO1 é só composição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Miocitos e endotelio linfatico sobem; macrofagos M1 e M2 caem. Ler como escores relativos, com cautela, porque a composição influencia todos os escores.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a narrativa: NQO1 baixo, via AMPK sem enriquecimento global mas com heterogeneidade, hubs de sinalização preservados e composição celular alterada.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honesto: dados observacionais, sem seguimento, sem dose de DOX, e bulk sem resolução de célula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mensagens finais: NQO1 é biomarcador candidato, a via AMPK é heterogênea e o pipeline é reprodutível e reutilizável.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 pasta tutoriais e o comando único. Cada script tem comentarios didaticos e imprime FIM DO SCRIPT ao terminar.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Citar as fontes dos dados e dos métodos. Ver README.md para a lista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B5C"/>
                </a:solidFill>
                <a:latin typeface="Arial"/>
              </a:rPr>
              <a:t>NQO1, doxorrubicina e cardiotoxicidade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46B63"/>
                </a:solidFill>
                <a:latin typeface="Arial"/>
              </a:rPr>
              <a:t>na cardiomiopatia dilatada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88920"/>
            <a:ext cx="2926080" cy="38100"/>
          </a:xfrm>
          <a:prstGeom prst="rect">
            <a:avLst/>
          </a:prstGeom>
          <a:solidFill>
            <a:srgbClr val="D95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1153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595959"/>
                </a:solidFill>
                <a:latin typeface="Arial"/>
              </a:rPr>
              <a:t>Análise transcriptômica reprodutível em R / Bioconductor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3B5C"/>
                </a:solidFill>
                <a:latin typeface="Arial"/>
              </a:rPr>
              <a:t>L. P. Souza  ·  R. P. Santos  ·  P. A. Borges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Dados públicos: GEO GSE116250  |  Via AMPK: KEGG hsa04152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Roteiro da aula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760720"/>
                <a:gridCol w="210312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Bloco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Pergunta que responde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1. Contexto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Por que NQO1 importa na cardiotoxicidade?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2. Dados e métodos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 onde vêm os dados e como são analisados?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3. Exploração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As amostras se separam por grupo?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4. Expressão diferencial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Quais genes mudam entre DCM e controle?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5. Do gene ao sistema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 via AMPK, a rede PPI e os escores por amostra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03 a 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6. Robustez e conclusão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 achado resiste a confundidores?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Contexto clínico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Doxorrubicina, estresse oxidativo e o papel do NQO1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Doxorrubicina: eficácia e preço cardíaco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Antraciclina essencial no tratamento de leucemias, linfomas e tumores sólidos.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Cardiotoxicidade dose-dependente: disfunção ventricular, insuficiência cardíaca e arritmias.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Pode surgir durante o tratamento ou anos depois (toxicidade tardia).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miocárdio tem alta demanda energética e baixa capacidade regenerativa.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Isso torna o coração especialmente sensível a dano mitocondrial e estresse oxidativo.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Como a doxorrubicina lesiona o cardiomiócito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5/31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58952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Mecanismo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acontece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Estresse oxidativo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Redução da quinona gera radicais livres e peroxidação lipídica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Topoisomerase II-beta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Inibição no cardiomiócito altera a transcrição mitocondrial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Disfunção mitocondrial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Perda de potencial de membrana, queda de ATP e liberação de citocromo 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Ferroptose e apoptose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Sobrecarga de ferro, lipoperoxidação e morte celular programada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6B63"/>
                </a:solidFill>
                <a:latin typeface="Arial"/>
              </a:rPr>
              <a:t>Consequência comum: menos defesa antioxidante e mais vulnerabilidade ao dano.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NQO1: a enzima que detoxifica quinonas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6/31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NAD(P)H quinona oxidorredutase 1: reduz quinonas por transferência de dois elétrons.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Evita a formação de semiquinonas reativas e de espécies reativas de oxigênio.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Induzida por Nrf2 pelo elemento de resposta antioxidante (ARE).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Citoprotetora: protege o cardiomiócito do dano oxidativo induzido pela DOX.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Hipótese do estudo: na cardiomiopatia dilatada, o NQO1 está downregulado.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Pergunta e desenho do estudo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7/31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6B63"/>
                </a:solidFill>
                <a:latin typeface="Arial"/>
              </a:rPr>
              <a:t>O NQO1 está diferencialmente expresso na cardiomiopatia dilatada e a via AMPK está perturbada nesse contexto?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788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76072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Objetivo específico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Abordagem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Quantificar o NQO1 entre DCM e controle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limma, ajustado por sexo e idade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Testar a via AMPK como conjunto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Ver o sistema, não só o gene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 PPI no STRING (score &gt;= 700)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Checar confundidores técnicos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 para fatores latentes e xCell para composição celular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Dados e métodos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64 amostras de ventrículo esquerdo, pipeline reprodutível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Dataset GSE116250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9/31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2926080"/>
                <a:gridCol w="448056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Idade média (anos)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Papel na análise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Controle usado no teste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48,8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Caso usado no teste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Só contexto no 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4805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6B63"/>
                </a:solidFill>
                <a:latin typeface="Arial"/>
              </a:rPr>
              <a:t>Expressão em RPKM · 18.526 genes após filtro de expressão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Pipeline: sete etapas, sete scripts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10/31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13385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Saída principal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Configuração, download do GEO e da via KEGG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cache em data/processed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Exploração não supervisionada das amostras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UMAP_amostras.png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limma DCM vs CTRL + 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expressao_diferencial_completa.csv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03_gene_sets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Genes do dataset x genes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Venn_dataset_AMPK.png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04_rede_PPI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Rede de interações no STRING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rede_ppi_ampk.png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05_extras_GSEA_GSVA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GSEA e GSVA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GSEA e GSVA (png/csv)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06_batch_deconvolution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SVA e xCell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SVA_comparacao.csv, xCell_teste.csv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48640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6B63"/>
                </a:solidFill>
                <a:latin typeface="Arial"/>
              </a:rPr>
              <a:t>Tudo reprodutível: Rscript executar_tutoriais.R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Modelo estatístico (limma)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11/31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58368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Modelo linear por gene: grupo (DCM vs CTRL) + sexo + idade.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Moderação empírica da variância: estabiliza o teste com amostras pequenas.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log2FC negativo indica menor expressão na DCM.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Controle de falsos positivos por Benjamini-Hochberg (padj).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Corte de significância: padj &lt; 0,05; efeito relevante: |log2FC| &gt;= 0,585.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Resultados: exploração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As amostras se organizam por grupo antes de qualquer teste?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UMAP: os controles formam um grupo à parte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13/31</a:t>
            </a:r>
          </a:p>
        </p:txBody>
      </p:sp>
      <p:pic>
        <p:nvPicPr>
          <p:cNvPr id="6" name="Picture 5" descr="UMAP_amos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449" y="1371600"/>
            <a:ext cx="5964701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45352"/>
            <a:ext cx="69494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Projeção UMAP das amostras (n = 68)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 em números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14/31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9875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377440"/>
                <a:gridCol w="237744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UMAP1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UMAP2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DP UMAP1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-3,46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1,50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0624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O resultado depende de n_neighbors, min_dist e do número de genes usados.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Expressão diferencial: o panorama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15/31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2412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testados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18.526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 e |log2FC| &gt;= 0,585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1951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testados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com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55 (25 up, 30 down)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949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 DCM é um estado transcriptômico muito alterado: o tamanho de efeito importa.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 está downregulado na DCM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16/31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115568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377440"/>
                <a:gridCol w="1737360"/>
                <a:gridCol w="173736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Expressão 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padj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Direção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4,23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1,4e-16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down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2926080"/>
            <a:ext cx="10515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-1,66 em log2 = aproximadamente um terço da expressão do controle.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60704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Menos NQO1 significa menos detoxificação de quinonas no miocárdio.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Um coração já doente fica mais vulnerável ao dano da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Isso conecta o achado transcriptômico à hipótese clínica de susceptibilidade.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Do gene ao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Gene sets, via AMPK e rede de interações proteicas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Quais genes entraram na análise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18/31</a:t>
            </a:r>
          </a:p>
        </p:txBody>
      </p:sp>
      <p:pic>
        <p:nvPicPr>
          <p:cNvPr id="6" name="Picture 5" descr="Venn_dataset_AMP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10" y="1371600"/>
            <a:ext cx="589198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696712"/>
            <a:ext cx="6035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Dataset filtrado x via AMPK (KEGG hsa04152)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40880" y="173736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Conjunto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Dataset após filtro de expressão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Via AMPK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Interseção (dataset ∩ via AMPK)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no dataset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18420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na via AMPK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Rede PPI da via AMPK no STRING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19/31</a:t>
            </a:r>
          </a:p>
        </p:txBody>
      </p:sp>
      <p:pic>
        <p:nvPicPr>
          <p:cNvPr id="6" name="Picture 5" descr="rede_ppi_amp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25880"/>
            <a:ext cx="621792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16752"/>
            <a:ext cx="7680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Rede PPI (score &gt;= 700) · 105 nós e 837 arestas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59" y="1828800"/>
            <a:ext cx="32918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Grafo: nós = proteínas, arestas = interações.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Score &gt;= 700 de 1.000 = alta confiança.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Hubs = proteínas mais conectadas.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Os hubs da rede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20/31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676656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37744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Grau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0,09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MTOR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-0,32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-0,42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-0,21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1920240"/>
            <a:ext cx="530352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595959"/>
                </a:solidFill>
                <a:latin typeface="Arial"/>
              </a:rPr>
              <a:t>Grau = número de conexões na rede. AKT1 e MTOR concentram a sinalização.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Vias e robustez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GSEA, GSVA, fatores latentes e composição celular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GSEA: a via AMPK não enriquece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22/31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528255" y="1645920"/>
          <a:ext cx="4023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Genes da via no ranking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0,307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1691640"/>
            <a:ext cx="676656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NES = -1,06 e p = 0,31: sem enriquecimento significativo.</a:t>
            </a:r>
          </a:p>
        </p:txBody>
      </p:sp>
      <p:pic>
        <p:nvPicPr>
          <p:cNvPr id="8" name="Picture 7" descr="GSEA_AMPK_enrichment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80" y="2286000"/>
            <a:ext cx="5242560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24535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Curva de enriquecimento da via AMPK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A via como bloco não se move — mas genes individuais, sim.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GSVA: escore da via por amostra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23/31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45375" y="1645920"/>
          <a:ext cx="4846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188720"/>
                <a:gridCol w="14630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Mediana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0,115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1691640"/>
            <a:ext cx="6583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Wilcoxon p = 0,00029  ·  -log10(p) = 3,54</a:t>
            </a:r>
          </a:p>
        </p:txBody>
      </p:sp>
      <p:pic>
        <p:nvPicPr>
          <p:cNvPr id="8" name="Picture 7" descr="GSVA_AMPK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60" y="2286000"/>
            <a:ext cx="48006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15391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 GSVA da via AMPK por grupo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O escore médio cai de 0,115 (CTRL) para -0,058 (DCM).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Robustez: correção de fatores latentes (SVA)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24/31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6766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Sem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log2FC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padj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7,4e-13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DEGs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7984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Correlação de log2FC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SVA_logFC_antes_depo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600200"/>
            <a:ext cx="3566160" cy="29480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572000"/>
            <a:ext cx="69494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6B63"/>
                </a:solidFill>
                <a:latin typeface="Arial"/>
              </a:rPr>
              <a:t>O efeito do NQO1 sobrevive à correção: log2FC -1,66 -&gt; -1,65.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Deconvolução celular (xCell)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25/31</a:t>
            </a:r>
          </a:p>
        </p:txBody>
      </p:sp>
      <p:pic>
        <p:nvPicPr>
          <p:cNvPr id="6" name="Picture 5" descr="xCell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2389"/>
            <a:ext cx="5669280" cy="38789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79592"/>
            <a:ext cx="56692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xCell por amostra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539496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Bulk cardíaco = mistura de tipos celulares.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xCell estima escores relativos, não frações absolutas.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Ajuda a descartar que a diferença seja só composição.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xCell: tipos celulares que mudam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26/31</a:t>
            </a:r>
          </a:p>
        </p:txBody>
      </p:sp>
      <p:pic>
        <p:nvPicPr>
          <p:cNvPr id="6" name="Picture 5" descr="xCell_box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337" y="1371600"/>
            <a:ext cx="679268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53912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por tipo celular, DCM vs CTRL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657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Miocitos e endotelio linfatico aumentados.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Macrofagos M1 e M2 reduzidos.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Interpretar como escores relativos.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que os resultados contam juntos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27/31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está reduzido de forma robusta na DCM (log2FC -1,66; padj 6,5e-13).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enriquece como bloco no GSEA, mas varia no escore por amostra (GSVA).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rede PPI mantém hubs de sinalização (AKT1, MTOR, PRKAA1/2).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composição celular muda, e o achado do NQO1 resiste à correção por SVA.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7899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D95F02"/>
                </a:solidFill>
                <a:latin typeface="Arial"/>
              </a:rPr>
              <a:t>Implicação: menor defesa antioxidante pode amplificar a cardiotoxicidade da DOX.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Limitações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28/31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6984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Estudo observacional com dados públicos: não há seguimento clínico.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Não há informação de dose ou tempo de exposição à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Transcriptoma bulk: não resolve heterogeneidade célula a célula.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Validação experimental (qPCR, western blot, modelos celulares) ainda é necessária.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29/31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downregulado na DCM é o achado central, robusto a ajuste e a fatores latentes.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se comporta como bloco único: genes individuais e escores importam.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pipeline em R/Bioconductor é reprodutível e pode ser reaplicado a outras coortes.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Reprodutibilidade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30/31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943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Arquivo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Função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executar_tutoriais.R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Roda a aula inteira na ordem correta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tutoriais/00 a 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Um script por etapa, com comentários didáticos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output/tables e output/figures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Tabelas e figuras geradas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data/processed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Cache dos dados e do resultado do limma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6B63"/>
                </a:solidFill>
                <a:latin typeface="Arial"/>
              </a:rPr>
              <a:t>Rscript executar_tutoriais.R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Os números desta apresentação vêm das tabelas em output/tables.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31/31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78992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GEO: GSE116250 (transcriptoma de ventrículo esquerdo humano).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Ritchie et al. (2015) limma. Nucleic Acids Research.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Szklarczyk et al. (2021) STRING. Nucleic Acids Research.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Hänzelmann et al. (2013) GSVA. BMC Bioinformatics.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Korotkevich et al. (2021) fgsea. bioRxiv.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Leek et al. (2012) sva. Bioinformatics; Aran et al. (2017) xCell. Genome Biology.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Lista completa e detalhes em README.md e RELATORIO_CIENTIFICO.md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