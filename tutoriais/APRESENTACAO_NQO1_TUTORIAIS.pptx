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Apresentar o objetivo: mostrar como um pipeline reprodutível em R identifica o NQO1 downregulado na cardiomiopatia dilatada e o que isso significa para a cardiotoxicidade da doxorrubicina. Reforçar que todos os números vêm de scripts versionados.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blocos: contexto clínico, dados e métodos, resultados gene a gene, resultados de sistema (vias e redes) e robustez/conclusões. Cada bloco corresponde a um ou dois scripts da pasta tutoriais/.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antraciclina é um dos quimioterápicos mais usados e um dos mais cardiotóxicos. A toxicidade é dose-dependente e pode aparecer anos depois. Explicar que o coração tem pouca capacidade de regeneração e alta demanda energética.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mecanismos que se somam. O ponto comum é a geração de espécies reativas e a disfunção mitocondrial. O NQO1 entra justamente na defesa antioxidante.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figura tem cinco painéis. A e B: ciclo redox da quinona com NOX2/NOX4, xantina oxidase e eNOS/iNOS gera superóxido, peroxinitrito e radical hidroxila. C: no retículo sarcoplasmático, ROS ativam CaMKII. D: inibição de topoisomerase II-beta leva a quebras de mtDNA e queda de ATP. E: bloqueio do fluxo autofágico pela falha de acidificação lisossomal.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Painel A: apoptose, com PARP e p53 acionando caspases. Painel B: piroptose via TLR4/NLRP3 e caspase-1, com GSDMD/GSDME formando poros. Painel C: ferroptose, dependente de Fe2+ e peroxidação lipídica, contida por GPX4/system Xc- e GSH.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Tabela com as 25 formas de morte celular regulada e a definição operacional de cada uma. Útil para mostrar que apoptose, necroptose, piroptose, ferroptose, cobreptose, oxeiptose e outras são categorias distintas, com mecanismos próprios.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modelo integrado calcula escores das 25 vias de morte por amostra e usa isso para buscar biomarcadores e alvos terapêuticos em pan-cancer. A mensagem central: as vias se comunicam e bloquear uma pode desviar a célula para outra.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Amarrar as figuras dos artigos ao achado do estudo: o NQO1 reduz a quinona em dois elétrons, evitando a semiquinona que alimenta o ciclo redox. Com NQO1 baixo na DCM, a mesma dose de DOX encontra menos defesa.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NQO1 é NAD(P)H quinona oxidorredutase 1. Faz redução de dois elétrons, evitando a formação de semiquinonas reativas. É induzida por Nrf2 via elemento de resposta antioxidante. Na prática: é uma enzima citoprotetora.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 principal e três perguntas secundárias. O desenho é observacional, com dados públicos de transcriptoma de ventrículo esquerdo. Deixar claro que não há intervenção nem seguimento clínico.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RNA-seq de ventrículo esquerdo humano. Usamos só DCM e controle no teste estatístico; o grupo ICM entra apenas como contexto no UMAP. Idade e sexo entram como covariáveis.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pasta tutoriais/ tem um script por etapa. O script 00 prepara os dados uma única vez e guarda cache; os demais reaproveitam. A ordem dos arquivos é a ordem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limma ajusta um modelo linear por gene com efeitos de grupo, sexo e idade. A moderação empírica da variância estabiliza as estimativas com poucas amostras. O ajuste de múltiplas comparações é Benjamini-Hochberg.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UMAP não supervisionado, colorido depois pelos rótulos. CTRL separa; DCM e ICM se sobrepõem, o que é esperado: são doenças diferentes com fenótipo final parecido. Eixos do UMAP não têm interpretação biológica direta.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Médias e desvios das coordenadas por grupo. O CTRL tem menor dispersão e centro distante.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Quase metade dos genes testados tem padj &lt; 0,05, o que mostra que a DCM é um estado transcriptômico muito alterado — e por isso o efeito precisa ser lido junto com o tamanho de efeito.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 central do estudo. log2FC -1,66 corresponde a cerca de um terço da expressão do controle. padj 6,5e-13 é muito robusto.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Distinção importante: estar no dataset não é o mesmo que pertencer à via. A interseção é o que o limma, a rede e o GSEA efetivamente usam.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Rede com 105 proteínas e 837 interações de alta confiança. Tamanho do nó = grau; cor = log2FC. Hubs concentram a comunicação da via.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AKT1 e MTOR lideram. São nós de sinalização de crescimento e metabolismo, coerentes com o papel energético da AMPK no coração.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 negativo e p 0,31: não há enriquecimento significativo do conjunto neste recorte. Resultado negativo também é resultado: a via não se comporta como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GSVA transforma a via em um escore por amostra. Aqui a diferença é significativa por Wilcoxon, com escores maiores no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SVA estima fatores latentes sem usar os rótulos. Com dois fatores no modelo, o efeito do NQO1 praticamente não muda. Isso sustenta o achado contra confundidores técnicos.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Bulk de tecido é mistura de tipos celulares. xCell estima escores relativos. Serve para checar se a diferença de NQO1 é só composição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Miocitos e endotelio linfatico sobem; macrofagos M1 e M2 caem. Ler como escores relativos, com cautela, porque a composição influencia todos os escores.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a narrativa: NQO1 baixo, via AMPK sem enriquecimento global mas com heterogeneidade, hubs de sinalização preservados e composição celular alterada.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 honesto: dados observacionais, sem seguimento, sem dose de DOX, e bulk sem resolução de célula única.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mensagens finais: NQO1 é biomarcador candidato, a via AMPK é heterogênea e o pipeline é reprodutível e reutilizável.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a pasta tutoriais e o comando único. Cada script tem comentarios didaticos e imprime FIM DO SCRIPT ao terminar.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Citar as fontes dos dados e dos métodos. Ver README.md para a lista completa.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1153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1F3B5C"/>
                </a:solidFill>
                <a:latin typeface="Arial"/>
              </a:rPr>
              <a:t>NQO1, doxorrubicina e cardiotoxicidade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1153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46B63"/>
                </a:solidFill>
                <a:latin typeface="Arial"/>
              </a:rPr>
              <a:t>na cardiomiopatia dilatada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788920"/>
            <a:ext cx="2926080" cy="38100"/>
          </a:xfrm>
          <a:prstGeom prst="rect">
            <a:avLst/>
          </a:prstGeom>
          <a:solidFill>
            <a:srgbClr val="D95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1153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595959"/>
                </a:solidFill>
                <a:latin typeface="Arial"/>
              </a:rPr>
              <a:t>Análise transcriptômica reprodutível em R / Bioconductor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F3B5C"/>
                </a:solidFill>
                <a:latin typeface="Arial"/>
              </a:rPr>
              <a:t>L. P. Souza  ·  R. P. Santos  ·  P. A. Borges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49240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95959"/>
                </a:solidFill>
                <a:latin typeface="Arial"/>
              </a:rPr>
              <a:t>Dados públicos: GEO GSE116250  |  Via AMPK: KEGG hsa04152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Roteiro da aula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881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760720"/>
                <a:gridCol w="210312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Bloco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Pergunta que responde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Script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1. Contexto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Por que NQO1 importa na cardiotoxicidade?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2. Dados e métodos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De onde vêm os dados e como são analisados?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3. Exploração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As amostras se separam por grupo?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01_UMAP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4. Expressão diferencial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Quais genes mudam entre DCM e controle?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02_volcano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5. Do gene ao sistema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 via AMPK, a rede PPI e os escores por amostra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03 a 06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6. Robustez e conclusão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O achado resiste a confundidores?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Contexto clínico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Doxorrubicina, estresse oxidativo e o papel do NQO1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Doxorrubicina: eficácia e preço cardíaco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400800" cy="4389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Antraciclina essencial no tratamento de leucemias, linfomas e tumores sólidos.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Cardiotoxicidade dose-dependente: disfunção ventricular, insuficiência cardíaca e arritmias.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Pode surgir durante o tratamento ou anos depois (toxicidade tardia).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O miocárdio tem alta demanda energética e baixa capacidade regenerativa.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Isso torna o coração especialmente sensível a dano mitocondrial e estresse oxidativo.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Como a doxorrubicina lesiona o cardiomiócito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589520"/>
              </a:tblGrid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Mecanismo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 que acontece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Estresse oxidativo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Redução da quinona gera radicais livres e peroxidação lipídica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Topoisomerase II-beta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Inibição no cardiomiócito altera a transcrição mitocondrial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Disfunção mitocondrial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Perda de potencial de membrana, queda de ATP e liberação de citocromo c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Ferroptose e apoptose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Sobrecarga de ferro, lipoperoxidação e morte celular programada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12064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6B63"/>
                </a:solidFill>
                <a:latin typeface="Arial"/>
              </a:rPr>
              <a:t>Consequência comum: menos defesa antioxidante e mais vulnerabilidade ao dano.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 ciclo redox da doxorrubicina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Kong et al., 2022 — Fig. 1</a:t>
            </a:r>
          </a:p>
        </p:txBody>
      </p:sp>
      <p:pic>
        <p:nvPicPr>
          <p:cNvPr id="5" name="Picture 4" descr="Kong_2022_Fig1_estresse_oxidativ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12" y="1325880"/>
            <a:ext cx="4423095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53912"/>
            <a:ext cx="44805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Kong et al., 2022, Int J Biol Sci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463040"/>
            <a:ext cx="603504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A · A quinona da DOX entra em ciclo redox com NOX2, NOX4 e xantina oxidase.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A · Surge a semiquinona, que reduz O2 e produz superóxido (O2•-).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B · A SOD converte O2•- em H2O2; com Fe2+ (Fenton) vem o radical hidroxila.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B · Óxido nítrico + superóxido = peroxinitrito (ONOO-).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C/D · ROS ativam CaMKII no retículo; a inibição de topo-IIβ quebra o mtDNA.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E · A DOX bloqueia a acidificação lisossomal e trava o fluxo autofágico.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Três mortes clássicas induzidas pela DOX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Apoptose, piroptose e ferroptose — Kong et al., 2022, Fig. 2</a:t>
            </a:r>
          </a:p>
        </p:txBody>
      </p:sp>
      <p:pic>
        <p:nvPicPr>
          <p:cNvPr id="5" name="Picture 4" descr="Kong_2022_Fig2_morte_celu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124" y="1325880"/>
            <a:ext cx="6471271" cy="3520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983480"/>
            <a:ext cx="1088136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A · Apoptose: quebras de DNA ativam PARP e p53, que acionam caspases.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B · Piroptose: TLR4 leva ao inflamassoma NLRP3 e à caspase-1; GSDMD abre poros na membrana.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C · Ferroptose: Fe2+ e peroxidação lipídica; GPX4, system Xc- e GSH tentam conter.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As 25 formas de morte celular regulada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Rodrigues De Souza et al., 2025 — Fig. 1</a:t>
            </a:r>
          </a:p>
        </p:txBody>
      </p:sp>
      <p:pic>
        <p:nvPicPr>
          <p:cNvPr id="5" name="Picture 4" descr="Rodrigues_2025_Fig1_25_mortes_celula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0971" y="1261872"/>
            <a:ext cx="7739577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952744"/>
            <a:ext cx="10881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RCD = regulated cell death: forma de morte e definição operacional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Multioptose: as vias conversam entre si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Rodrigues De Souza et al., 2025 — Fig. 3</a:t>
            </a:r>
          </a:p>
        </p:txBody>
      </p:sp>
      <p:pic>
        <p:nvPicPr>
          <p:cNvPr id="5" name="Picture 4" descr="Rodrigues_2025_Fig3_workflow_multiopt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79055"/>
            <a:ext cx="6675120" cy="37570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16752"/>
            <a:ext cx="66751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Fluxo do modelo integrado de multioptose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737360"/>
            <a:ext cx="429768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O modelo soma escores das 25 vias de morte, amostra por amostra.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Integra camadas de multi-ômica para achar biomarcadores e alvos.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As vias se comunicam: bloquear uma pode desviar a célula para outra.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Onde o NQO1 entra nessa história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A enzima corta o ciclo redox na origem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480560"/>
                <a:gridCol w="4114800"/>
              </a:tblGrid>
              <a:tr h="60350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Etapa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 DOX e pouco NQO1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 NQO1 ativo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Ciclo redox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Semiquinona recicla e gera superóxido sem parar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Redução em dois elétrons: sem semiquinona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Radicais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H2O2, •OH e ONOO- atacam proteína, lipídio e DNA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Menos ROS e menos peroxidação lipídica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Ferroptose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Fe2+ + peroxidação lipídica levam à morte por ferro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Menos peroxidação: menos sinal ferroptótico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Resultado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Morte do cardiomiócito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Mais resistência ao dano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46320"/>
            <a:ext cx="105156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6B63"/>
                </a:solidFill>
                <a:latin typeface="Arial"/>
              </a:rPr>
              <a:t>Na DCM o NQO1 cai: a defesa antioxidante diminui justamente onde a DOX 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NQO1: a enzima que detoxifica quinonas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400800" cy="4389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NAD(P)H quinona oxidorredutase 1: reduz quinonas por transferência de dois elétrons.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Evita a formação de semiquinonas reativas e de espécies reativas de oxigênio.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Induzida por Nrf2 pelo elemento de resposta antioxidante (ARE).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Citoprotetora: protege o cardiomiócito do dano oxidativo induzido pela DOX.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Hipótese do estudo: na cardiomiopatia dilatada, o NQO1 está downregulado.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11/36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Pergunta e desenho do estudo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6B63"/>
                </a:solidFill>
                <a:latin typeface="Arial"/>
              </a:rPr>
              <a:t>O NQO1 está diferencialmente expresso na cardiomiopatia dilatada e a via AMPK está perturbada nesse contexto?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7889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76072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Objetivo específico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Abordagem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Quantificar o NQO1 entre DCM e controle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limma, ajustado por sexo e idade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Testar a via AMPK como conjunto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GSEA e GSVA (KEGG hsa04152)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Ver o sistema, não só o gene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Rede PPI no STRING (score &gt;= 700)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Checar confundidores técnicos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SVA para fatores latentes e xCell para composição celular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Dados e métodos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64 amostras de ventrículo esquerdo, pipeline reprodutível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Dataset GSE116250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2926080"/>
                <a:gridCol w="4480560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Idade média (anos)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Papel na análise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CTRL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49,1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Controle usado no teste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DCM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48,8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Caso usado no teste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ICM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56,5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Só contexto no UMAP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48056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6B63"/>
                </a:solidFill>
                <a:latin typeface="Arial"/>
              </a:rPr>
              <a:t>Expressão em RPKM · 18.526 genes após filtro de expressão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14/36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Pipeline: sete etapas, sete scripts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133856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394960"/>
                <a:gridCol w="356616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Script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 que faz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Saída principal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Configuração, download do GEO e da via KEGG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cache em data/processed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01_UMAP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Exploração não supervisionada das amostras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UMAP_amostras.png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02_volcano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limma DCM vs CTRL + volcano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expressao_diferencial_completa.csv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03_gene_sets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Genes do dataset x genes da via AMPK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Venn_dataset_AMPK.png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04_rede_PPI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Rede de interações no STRING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rede_ppi_ampk.png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05_extras_GSEA_GSVA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GSEA e GSVA da via AMPK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GSEA e GSVA (png/csv)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06_batch_deconvolution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SVA e xCell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SVA_comparacao.csv, xCell_teste.csv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48640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46B63"/>
                </a:solidFill>
                <a:latin typeface="Arial"/>
              </a:rPr>
              <a:t>Tudo reprodutível: Rscript executar_tutoriais.R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Modelo estatístico (limma)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58368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Modelo linear por gene: grupo (DCM vs CTRL) + sexo + idade.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Moderação empírica da variância: estabiliza o teste com amostras pequenas.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log2FC negativo indica menor expressão na DCM.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Controle de falsos positivos por Benjamini-Hochberg (padj).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Corte de significância: padj &lt; 0,05; efeito relevante: |log2FC| &gt;= 0,585.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Resultados: exploração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As amostras se organizam por grupo antes de qualquer teste?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UMAP: os controles formam um grupo à parte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MAP_amos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449" y="1371600"/>
            <a:ext cx="596470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45352"/>
            <a:ext cx="69494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Projeção UMAP das amostras (n = 68)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18/36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UMAP em números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9875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377440"/>
                <a:gridCol w="2377440"/>
                <a:gridCol w="219456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UMAP1 (média)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UMAP2 (média)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DP UMAP1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CTRL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-3,46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-0,16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0,46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DCM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-0,06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1,41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ICM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1,50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0,35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0,90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O resultado depende de n_neighbors, min_dist e do número de genes usados.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Expressão diferencial: o panorama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2412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4206240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Genes testados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18.526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DEGs com padj &lt; 0,05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7995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DEGs com padj &lt; 0,05 e |log2FC| &gt;= 0,585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1951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Genes da via AMPK testados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Genes da via AMPK com padj &lt; 0,05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55 (25 up, 30 down)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A DCM é um estado transcriptômico muito alterado: o tamanho de efeito importa.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NQO1 está downregulado na DCM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1115568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737360"/>
                <a:gridCol w="2377440"/>
                <a:gridCol w="1737360"/>
                <a:gridCol w="1737360"/>
                <a:gridCol w="201168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Gene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log2FC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Expressão média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p-valor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padj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Direção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NQO1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-1,66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4,23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1,4e-16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6,5e-13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3B5C"/>
                          </a:solidFill>
                          <a:latin typeface="Arial"/>
                        </a:rPr>
                        <a:t>down na DCM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2926080"/>
            <a:ext cx="105156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6B63"/>
                </a:solidFill>
                <a:latin typeface="Arial"/>
              </a:rPr>
              <a:t>-1,66 em log2 = aproximadamente um terço da expressão do controle.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60704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Menos NQO1 significa menos detoxificação de quinonas no miocárdio.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Um coração já doente fica mais vulnerável ao dano da doxorrubicina.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>
                <a:solidFill>
                  <a:srgbClr val="1F3B5C"/>
                </a:solidFill>
                <a:latin typeface="Arial"/>
              </a:rPr>
              <a:t>•  Isso conecta o achado transcriptômico à hipótese clínica de susceptibilidade.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21/36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Do gene ao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Gene sets, via AMPK e rede de interações proteicas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Quais genes entraram na análise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enn_dataset_AMP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610" y="1371600"/>
            <a:ext cx="589198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96712"/>
            <a:ext cx="6035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Dataset filtrado x via AMPK (KEGG hsa04152)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040880" y="173736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Conjunto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Dataset após filtro de expressão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18526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Via AMPK (KEGG hsa04152)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Interseção (dataset ∩ via AMPK)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Somente no dataset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18420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Somente na via AMPK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Rede PPI da via AMPK no STRING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de_ppi_amp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325880"/>
            <a:ext cx="621792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16752"/>
            <a:ext cx="76809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Rede PPI (score &gt;= 700) · 105 nós e 837 arestas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59" y="1828800"/>
            <a:ext cx="32918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Grafo: nós = proteínas, arestas = interações.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Score &gt;= 700 de 1.000 = alta confiança.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Hubs = proteínas mais conectadas.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Os hubs da rede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6766560" cy="4425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377440"/>
              </a:tblGrid>
              <a:tr h="40233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Gene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Grau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log2FC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AKT1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0,09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MTOR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-0,16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PRKAA1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-0,32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PRKAA2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0,36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AKT2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-0,19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PRKAB2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-0,14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PRKAG2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-0,42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PRKAG1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-0,02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PRKAB1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0,65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AKT3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-0,21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309360" y="1920240"/>
            <a:ext cx="530352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595959"/>
                </a:solidFill>
                <a:latin typeface="Arial"/>
              </a:rPr>
              <a:t>Grau = número de conexões na rede. AKT1 e MTOR concentram a sinalização.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828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6B63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271455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Vias e robustez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27145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9D8D6"/>
                </a:solidFill>
                <a:latin typeface="Arial"/>
              </a:rPr>
              <a:t>GSEA, GSVA, fatores latentes e composição celular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GSEA: a via AMPK não enriquece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528255" y="1645920"/>
          <a:ext cx="4023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Genes da via no ranking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NES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-1,06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p-valor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0,307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1691640"/>
            <a:ext cx="676656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6B63"/>
                </a:solidFill>
                <a:latin typeface="Arial"/>
              </a:rPr>
              <a:t>NES = -1,06 e p = 0,31: sem enriquecimento significativo.</a:t>
            </a:r>
          </a:p>
        </p:txBody>
      </p:sp>
      <p:pic>
        <p:nvPicPr>
          <p:cNvPr id="6" name="Picture 5" descr="GSEA_AMPK_enrichment_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9480" y="2286000"/>
            <a:ext cx="524256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45352"/>
            <a:ext cx="10881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Curva de enriquecimento da via AMPK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A via como bloco não se move — mas genes individuais, sim.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GSVA: escore da via por amostra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45375" y="1645920"/>
          <a:ext cx="4846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14400"/>
                <a:gridCol w="1188720"/>
                <a:gridCol w="146304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Média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Mediana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CTRL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0,115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0,151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DCM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-0,058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3B5C"/>
                          </a:solidFill>
                          <a:latin typeface="Arial"/>
                        </a:rPr>
                        <a:t>-0,058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1691640"/>
            <a:ext cx="65836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6B63"/>
                </a:solidFill>
                <a:latin typeface="Arial"/>
              </a:rPr>
              <a:t>Wilcoxon p = 0,00029  ·  -log10(p) = 3,54</a:t>
            </a:r>
          </a:p>
        </p:txBody>
      </p:sp>
      <p:pic>
        <p:nvPicPr>
          <p:cNvPr id="6" name="Picture 5" descr="GSVA_AMPK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460" y="2286000"/>
            <a:ext cx="480060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53912"/>
            <a:ext cx="10881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Escore GSVA da via AMPK por grupo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O escore médio cai de 0,115 (CTRL) para -0,058 (DCM).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Robustez: correção de fatores latentes (SVA)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6766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Sem SVA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 SVA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NQO1 log2FC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-1,66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-1,65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NQO1 padj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6,5e-13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7,4e-13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DEGs padj &lt; 0,05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7995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7984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Correlação de log2FC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SVA_logFC_antes_depo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1600200"/>
            <a:ext cx="3566160" cy="29480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72000"/>
            <a:ext cx="694944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6B63"/>
                </a:solidFill>
                <a:latin typeface="Arial"/>
              </a:rPr>
              <a:t>O efeito do NQO1 sobrevive à correção: log2FC -1,66 -&gt; -1,65.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Deconvolução celular (xCell)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Cell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2389"/>
            <a:ext cx="5669280" cy="38789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79592"/>
            <a:ext cx="566928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Escores xCell por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737360"/>
            <a:ext cx="539496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1F3B5C"/>
                </a:solidFill>
                <a:latin typeface="Arial"/>
              </a:rPr>
              <a:t>•  Bulk cardíaco = mistura de tipos celulares.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1F3B5C"/>
                </a:solidFill>
                <a:latin typeface="Arial"/>
              </a:rPr>
              <a:t>•  xCell estima escores relativos, não frações absolutas.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1F3B5C"/>
                </a:solidFill>
                <a:latin typeface="Arial"/>
              </a:rPr>
              <a:t>•  Ajuda a descartar que a diferença seja só composição.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xCell: tipos celulares que mudam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Cell_boxpl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337" y="1371600"/>
            <a:ext cx="6792685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53912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Escores por tipo celular, DCM vs CTRL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828800"/>
            <a:ext cx="365760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Miocitos e endotelio linfatico aumentados.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Macrofagos M1 e M2 reduzidos.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F3B5C"/>
                </a:solidFill>
                <a:latin typeface="Arial"/>
              </a:rPr>
              <a:t>•  Interpretar como escores relativos.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O que os resultados contam juntos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NQO1 está reduzido de forma robusta na DCM (log2FC -1,66; padj 6,5e-13).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via AMPK não enriquece como bloco no GSEA, mas varia no escore por amostra (GSVA).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rede PPI mantém hubs de sinalização (AKT1, MTOR, PRKAA1/2).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composição celular muda, e o achado do NQO1 resiste à correção por SVA.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1078992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D95F02"/>
                </a:solidFill>
                <a:latin typeface="Arial"/>
              </a:rPr>
              <a:t>Implicação: menor defesa antioxidante pode amplificar a cardiotoxicidade da DOX.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Limitações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6984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Estudo observacional com dados públicos: não há seguimento clínico.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Não há informação de dose ou tempo de exposição à doxorrubicina.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Transcriptoma bulk: não resolve heterogeneidade célula a célula.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Validação experimental (qPCR, western blot, modelos celulares) ainda é necessária.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Conclusões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NQO1 downregulado na DCM é o achado central, robusto a ajuste e a fatores latentes.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A via AMPK não se comporta como bloco único: genes individuais e escores importam.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900">
                <a:solidFill>
                  <a:srgbClr val="1F3B5C"/>
                </a:solidFill>
                <a:latin typeface="Arial"/>
              </a:rPr>
              <a:t>•  O pipeline em R/Bioconductor é reprodutível e pode ser reaplicado a outras coortes.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Reprodutibilidade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515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9436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Arquivo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Função</a:t>
                      </a:r>
                    </a:p>
                  </a:txBody>
                  <a:tcPr anchor="ctr" marL="54864" marR="54864">
                    <a:solidFill>
                      <a:srgbClr val="1F3B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executar_tutoriais.R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Roda a aula inteira na ordem correta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tutoriais/00 a 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Um script por etapa, com comentários didáticos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output/tables e output/figures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Tabelas e figuras geradas</a:t>
                      </a:r>
                    </a:p>
                  </a:txBody>
                  <a:tcPr anchor="ctr" marL="54864" marR="54864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data/processed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3B5C"/>
                          </a:solidFill>
                          <a:latin typeface="Arial"/>
                        </a:rPr>
                        <a:t>Cache dos dados e do resultado do limma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6B63"/>
                </a:solidFill>
                <a:latin typeface="Arial"/>
              </a:rPr>
              <a:t>Rscript executar_tutoriais.R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95959"/>
                </a:solidFill>
                <a:latin typeface="Arial"/>
              </a:rPr>
              <a:t>Os números desta apresentação vêm das tabelas em output/tables.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35/36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3B5C"/>
                </a:solidFill>
                <a:latin typeface="Arial"/>
              </a:rPr>
              <a:t>Referências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737360" cy="50800"/>
          </a:xfrm>
          <a:prstGeom prst="rect">
            <a:avLst/>
          </a:prstGeom>
          <a:solidFill>
            <a:srgbClr val="14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023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GEO: GSE116250 (transcriptoma de ventrículo esquerdo humano).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Kong et al. (2022) Underlying the mechanisms of doxorubicin-induced acute cardiotoxicity. Int J Biol Sci.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Rodrigues De Souza et al. (2025) Integrated multi-optosis model for pan-cancer discovery.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Ritchie et al. (2015) limma. Nucleic Acids Research.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Szklarczyk et al. (2021) STRING. Nucleic Acids Research.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Hänzelmann et al. (2013) GSVA. BMC Bioinformatics; Korotkevich et al. (2021) fgsea. bioRxiv.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>
                <a:solidFill>
                  <a:srgbClr val="1F3B5C"/>
                </a:solidFill>
                <a:latin typeface="Arial"/>
              </a:rPr>
              <a:t>•  Leek et al. (2012) sva. Bioinformatics; Aran et al. (2017) xCell. Genome Biology.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0644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Textos completos em tutoriais/artigos/. Lista detalhada em README.md.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6400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NQO1 e cardiotoxicidade por doxorrubicina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528816"/>
            <a:ext cx="914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95959"/>
                </a:solidFill>
                <a:latin typeface="Arial"/>
              </a:rPr>
              <a:t>36/36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